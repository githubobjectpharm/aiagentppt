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374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620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82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484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63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002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040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38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36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064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55147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4E0DD-5D44-4721-8F51-20D192745A73}" type="datetimeFigureOut">
              <a:rPr lang="en-CA" smtClean="0"/>
              <a:t>2025-08-28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86019-1556-4EEF-9691-7A811CE5E1C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409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8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ounded Rectangle 2"/>
          <p:cNvSpPr/>
          <p:nvPr/>
        </p:nvSpPr>
        <p:spPr>
          <a:xfrm>
            <a:off x="609600" y="754380"/>
            <a:ext cx="10972800" cy="17145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77800" rIns="254000" bIns="177800" rtlCol="0" anchor="ctr"/>
          <a:lstStyle/>
          <a:p>
            <a:r>
              <a:rPr lang="en-US" sz="3600" b="1" smtClean="0">
                <a:solidFill>
                  <a:srgbClr val="16161A"/>
                </a:solidFill>
                <a:latin typeface="Arial" panose="020B0604020202020204" pitchFamily="34" charset="0"/>
              </a:rPr>
              <a:t>If a patient's prescription has the Sig code “ii gtts OU daily,” what does this mean?</a:t>
            </a:r>
            <a:endParaRPr lang="en-CA" sz="3600" b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5567" y="490347"/>
            <a:ext cx="754380" cy="754380"/>
          </a:xfrm>
          <a:prstGeom prst="ellipse">
            <a:avLst/>
          </a:prstGeom>
          <a:solidFill>
            <a:srgbClr val="6495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400" b="1" smtClean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en-CA" sz="3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277749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a) Two drops in the left eye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600" y="370332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b) Two drops in the right eye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600" y="462915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c) Two drops in both eyes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600" y="555498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d) Two drops under the tongue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43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8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ounded Rectangle 2"/>
          <p:cNvSpPr/>
          <p:nvPr/>
        </p:nvSpPr>
        <p:spPr>
          <a:xfrm>
            <a:off x="609600" y="754380"/>
            <a:ext cx="10972800" cy="17145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77800" rIns="254000" bIns="177800" rtlCol="0" anchor="ctr"/>
          <a:lstStyle/>
          <a:p>
            <a:r>
              <a:rPr lang="en-US" sz="3600" b="1" smtClean="0">
                <a:solidFill>
                  <a:srgbClr val="16161A"/>
                </a:solidFill>
                <a:latin typeface="Arial" panose="020B0604020202020204" pitchFamily="34" charset="0"/>
              </a:rPr>
              <a:t>If a patient's prescription has the Sig code “ii gtts OU daily,” what does this mean?</a:t>
            </a:r>
            <a:endParaRPr lang="en-CA" sz="3600" b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5567" y="490347"/>
            <a:ext cx="754380" cy="754380"/>
          </a:xfrm>
          <a:prstGeom prst="ellipse">
            <a:avLst/>
          </a:prstGeom>
          <a:solidFill>
            <a:srgbClr val="6495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400" b="1" smtClean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en-CA" sz="3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2777490"/>
            <a:ext cx="10972800" cy="34290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228600" rIns="304800" bIns="228600" rtlCol="0" anchor="ctr"/>
          <a:lstStyle/>
          <a:p>
            <a:r>
              <a:rPr lang="en-US" sz="3000" b="1" i="1" smtClean="0">
                <a:solidFill>
                  <a:srgbClr val="16161A"/>
                </a:solidFill>
                <a:latin typeface="Arial" panose="020B0604020202020204" pitchFamily="34" charset="0"/>
              </a:rPr>
              <a:t>c) Two drops in both eyes daily</a:t>
            </a:r>
          </a:p>
          <a:p>
            <a:endParaRPr lang="en-US" sz="3000" smtClean="0">
              <a:solidFill>
                <a:srgbClr val="16161A"/>
              </a:solidFill>
              <a:latin typeface="Arial" panose="020B0604020202020204" pitchFamily="34" charset="0"/>
            </a:endParaRPr>
          </a:p>
          <a:p>
            <a:r>
              <a:rPr lang="en-US" sz="3000" smtClean="0">
                <a:solidFill>
                  <a:srgbClr val="16161A"/>
                </a:solidFill>
                <a:latin typeface="Arial" panose="020B0604020202020204" pitchFamily="34" charset="0"/>
              </a:rPr>
              <a:t>Explanation: “ii” = two; “gtts” = drops; “OU” = both eyes; “daily” = once daily. Therefore, the Sig means instill two drops into both eyes once daily.</a:t>
            </a:r>
            <a:endParaRPr lang="en-CA" sz="3000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55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8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ounded Rectangle 2"/>
          <p:cNvSpPr/>
          <p:nvPr/>
        </p:nvSpPr>
        <p:spPr>
          <a:xfrm>
            <a:off x="609600" y="754380"/>
            <a:ext cx="10972800" cy="17145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77800" rIns="254000" bIns="177800" rtlCol="0" anchor="ctr"/>
          <a:lstStyle/>
          <a:p>
            <a:r>
              <a:rPr lang="en-US" sz="3600" b="1" smtClean="0">
                <a:solidFill>
                  <a:srgbClr val="16161A"/>
                </a:solidFill>
                <a:latin typeface="Arial" panose="020B0604020202020204" pitchFamily="34" charset="0"/>
              </a:rPr>
              <a:t>If a patient's prescription has the Sig code “ii gtts OU daily,” what does this mean?</a:t>
            </a:r>
            <a:endParaRPr lang="en-CA" sz="3600" b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345567" y="490347"/>
            <a:ext cx="754380" cy="754380"/>
          </a:xfrm>
          <a:prstGeom prst="ellipse">
            <a:avLst/>
          </a:prstGeom>
          <a:solidFill>
            <a:srgbClr val="6495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400" b="1" smtClean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en-CA" sz="3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9600" y="277749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a) Two drops in the left eye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600" y="370332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b) Two drops in the right eye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600" y="462915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c) Two drops in both eyes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600" y="5554980"/>
            <a:ext cx="10972800" cy="7543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bIns="152400" rtlCol="0" anchor="ctr"/>
          <a:lstStyle/>
          <a:p>
            <a:r>
              <a:rPr lang="en-US" sz="3000" i="1" smtClean="0">
                <a:solidFill>
                  <a:srgbClr val="16161A"/>
                </a:solidFill>
                <a:latin typeface="Arial" panose="020B0604020202020204" pitchFamily="34" charset="0"/>
              </a:rPr>
              <a:t>d) Two drops under the tongue daily</a:t>
            </a:r>
            <a:endParaRPr lang="en-CA" sz="3000" i="1">
              <a:solidFill>
                <a:srgbClr val="16161A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Misbah</dc:creator>
  <cp:lastModifiedBy>Misbah</cp:lastModifiedBy>
  <cp:revision>1</cp:revision>
  <dcterms:created xsi:type="dcterms:W3CDTF">2025-08-29T00:01:59Z</dcterms:created>
  <dcterms:modified xsi:type="dcterms:W3CDTF">2025-08-29T00:02:04Z</dcterms:modified>
</cp:coreProperties>
</file>